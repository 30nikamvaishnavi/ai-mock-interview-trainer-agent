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sz="2800" b="1">
                <a:latin typeface="Arial"/>
              </a:rPr>
              <a:t>IBM University Engagement Project Submission</a:t>
            </a: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sz="2400" b="1">
                <a:latin typeface="Arial"/>
              </a:rPr>
              <a:t>AI Mock Interview Trainer Agent</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sz="2000" b="1">
                <a:latin typeface="Arial"/>
              </a:rPr>
              <a:t>Domain of Project - Education / Artificial Intelligence</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sz="2000" b="1">
                <a:latin typeface="Arial"/>
              </a:rPr>
              <a:t>Project Title - AI Mock Interview Trainer Agent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1800" b="0">
                <a:latin typeface="Arial"/>
              </a:rPr>
              <a:t>Student Name: Vaishnavi Nikam</a:t>
            </a:r>
            <a:br/>
            <a:r>
              <a:rPr sz="1800" b="0">
                <a:latin typeface="Arial"/>
              </a:rPr>
              <a:t>Email ID: [add email]</a:t>
            </a:r>
            <a:br/>
            <a:r>
              <a:rPr sz="1800" b="0">
                <a:latin typeface="Arial"/>
              </a:rPr>
              <a:t>Mobile / WhatsApp: [add number]</a:t>
            </a:r>
            <a:br/>
            <a:r>
              <a:rPr sz="1800" b="0">
                <a:latin typeface="Arial"/>
              </a:rPr>
              <a:t>Target Role: AI Engineer / Machine Learning Engineer</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sz="1600" b="0">
                <a:latin typeface="Arial"/>
              </a:rPr>
              <a:t>Problem Statement: AI Mock Interview Trainer</a:t>
            </a:r>
            <a:br/>
            <a:br/>
            <a:r>
              <a:rPr sz="1600" b="0">
                <a:latin typeface="Arial"/>
              </a:rPr>
              <a:t>The Challenge</a:t>
            </a:r>
            <a:br/>
            <a:br/>
            <a:r>
              <a:rPr sz="1600" b="0">
                <a:latin typeface="Arial"/>
              </a:rPr>
              <a:t>Candidates often lack access to realistic, personalized interview practice. Generic question lists do not understand a candidate's resume, projects, target role, or answer quality. This makes it difficult to identify knowledge gaps, improve communication, and build confidence before a real interview.</a:t>
            </a:r>
            <a:br/>
            <a:br/>
            <a:r>
              <a:rPr sz="1600" b="0">
                <a:latin typeface="Arial"/>
              </a:rPr>
              <a:t>The Objective</a:t>
            </a:r>
            <a:br/>
            <a:br/>
            <a:r>
              <a:rPr sz="1600" b="0">
                <a:latin typeface="Arial"/>
              </a:rPr>
              <a:t>Build an AI-powered interview trainer that analyzes a resume, generates role-specific questions, supports text and voice answers, evaluates responses, and maintains interview history.</a:t>
            </a:r>
            <a:br/>
            <a:br/>
            <a:r>
              <a:rPr sz="1600" b="0">
                <a:latin typeface="Arial"/>
              </a:rPr>
              <a:t>Key needs</a:t>
            </a:r>
            <a:br/>
            <a:r>
              <a:rPr sz="1600" b="0">
                <a:latin typeface="Arial"/>
              </a:rPr>
              <a:t>- Resume-aware and personalized questions</a:t>
            </a:r>
            <a:br/>
            <a:r>
              <a:rPr sz="1600" b="0">
                <a:latin typeface="Arial"/>
              </a:rPr>
              <a:t>- Technical, project, HR, and coding practice</a:t>
            </a:r>
            <a:br/>
            <a:r>
              <a:rPr sz="1600" b="0">
                <a:latin typeface="Arial"/>
              </a:rPr>
              <a:t>- Retrieval-Augmented Generation using an interview knowledge base</a:t>
            </a:r>
            <a:br/>
            <a:r>
              <a:rPr sz="1600" b="0">
                <a:latin typeface="Arial"/>
              </a:rPr>
              <a:t>- Instant feedback on submitted answers</a:t>
            </a:r>
            <a:br/>
            <a:r>
              <a:rPr sz="1600" b="0">
                <a:latin typeface="Arial"/>
              </a:rPr>
              <a:t>- A simple interface for repeated practice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r>
              <a:rPr sz="1600" b="0">
                <a:latin typeface="Arial"/>
              </a:rPr>
              <a:t>Proposed Solution: AI Mock Interview Trainer</a:t>
            </a:r>
            <a:br/>
            <a:br/>
            <a:r>
              <a:rPr sz="1600" b="0">
                <a:latin typeface="Arial"/>
              </a:rPr>
              <a:t>The proposed solution is a Streamlit-based AI interview practice platform powered by IBM watsonx.ai and Granite models.</a:t>
            </a:r>
            <a:br/>
            <a:br/>
            <a:r>
              <a:rPr sz="1600" b="0">
                <a:latin typeface="Arial"/>
              </a:rPr>
              <a:t>The workflow begins with resume upload and parsing. The candidate profile is then used with the selected role, difficulty, question count, and answer style to generate a structured mock interview.</a:t>
            </a:r>
            <a:br/>
            <a:br/>
            <a:r>
              <a:rPr sz="1600" b="0">
                <a:latin typeface="Arial"/>
              </a:rPr>
              <a:t>A RAG pipeline retrieves relevant interview concepts from the local knowledge base. Granite generates questions, evaluates answers, and powers resume-aware chat practice. Candidates can answer by typing or recording voice, and completed sessions can be saved for later review.</a:t>
            </a:r>
            <a:br/>
            <a:br/>
            <a:r>
              <a:rPr sz="1600" b="0">
                <a:latin typeface="Arial"/>
              </a:rPr>
              <a:t>Core modules</a:t>
            </a:r>
            <a:br/>
            <a:r>
              <a:rPr sz="1600" b="0">
                <a:latin typeface="Arial"/>
              </a:rPr>
              <a:t>- Resume Intelligence: extracts skills, projects, and profile text</a:t>
            </a:r>
            <a:br/>
            <a:r>
              <a:rPr sz="1600" b="0">
                <a:latin typeface="Arial"/>
              </a:rPr>
              <a:t>- Interview Generator: creates structured role-specific questions</a:t>
            </a:r>
            <a:br/>
            <a:r>
              <a:rPr sz="1600" b="0">
                <a:latin typeface="Arial"/>
              </a:rPr>
              <a:t>- Answer Evaluator: returns actionable feedback</a:t>
            </a:r>
            <a:br/>
            <a:r>
              <a:rPr sz="1600" b="0">
                <a:latin typeface="Arial"/>
              </a:rPr>
              <a:t>- Chat Trainer: provides interactive preparation support</a:t>
            </a:r>
            <a:br/>
            <a:r>
              <a:rPr sz="1600" b="0">
                <a:latin typeface="Arial"/>
              </a:rPr>
              <a:t>- Voice Module: converts spoken answers to text</a:t>
            </a:r>
            <a:br/>
            <a:r>
              <a:rPr sz="1600" b="0">
                <a:latin typeface="Arial"/>
              </a:rPr>
              <a:t>- History Module: stores completed interviews</a:t>
            </a:r>
            <a:endParaRPr lang="en-US" b="1"/>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sz="1600" b="0">
                <a:latin typeface="Arial"/>
              </a:rPr>
              <a:t>Technology Used</a:t>
            </a:r>
            <a:br/>
            <a:br/>
            <a:r>
              <a:rPr sz="1600" b="0">
                <a:latin typeface="Arial"/>
              </a:rPr>
              <a:t>IBM watsonx.ai / Granite Models</a:t>
            </a:r>
            <a:br/>
            <a:r>
              <a:rPr sz="1600" b="0">
                <a:latin typeface="Arial"/>
              </a:rPr>
              <a:t>- Question generation, answer evaluation, and conversational coaching</a:t>
            </a:r>
            <a:br/>
            <a:br/>
            <a:r>
              <a:rPr sz="1600" b="0">
                <a:latin typeface="Arial"/>
              </a:rPr>
              <a:t>IBM Cloud</a:t>
            </a:r>
            <a:br/>
            <a:r>
              <a:rPr sz="1600" b="0">
                <a:latin typeface="Arial"/>
              </a:rPr>
              <a:t>- Secure access to hosted foundation models through IBM watsonx.ai</a:t>
            </a:r>
            <a:br/>
            <a:br/>
            <a:r>
              <a:rPr sz="1600" b="0">
                <a:latin typeface="Arial"/>
              </a:rPr>
              <a:t>Python</a:t>
            </a:r>
            <a:br/>
            <a:r>
              <a:rPr sz="1600" b="0">
                <a:latin typeface="Arial"/>
              </a:rPr>
              <a:t>- Core application and AI orchestration language</a:t>
            </a:r>
            <a:br/>
            <a:br/>
            <a:r>
              <a:rPr sz="1600" b="0">
                <a:latin typeface="Arial"/>
              </a:rPr>
              <a:t>Streamlit</a:t>
            </a:r>
            <a:br/>
            <a:r>
              <a:rPr sz="1600" b="0">
                <a:latin typeface="Arial"/>
              </a:rPr>
              <a:t>- Interactive web interface for resume analysis and mock interviews</a:t>
            </a:r>
            <a:br/>
            <a:br/>
            <a:r>
              <a:rPr sz="1600" b="0">
                <a:latin typeface="Arial"/>
              </a:rPr>
              <a:t>RAG</a:t>
            </a:r>
            <a:br/>
            <a:r>
              <a:rPr sz="1600" b="0">
                <a:latin typeface="Arial"/>
              </a:rPr>
              <a:t>- Retrieves relevant interview knowledge before generation</a:t>
            </a:r>
            <a:br/>
            <a:br/>
            <a:r>
              <a:rPr sz="1600" b="0">
                <a:latin typeface="Arial"/>
              </a:rPr>
              <a:t>ChromaDB</a:t>
            </a:r>
            <a:br/>
            <a:r>
              <a:rPr sz="1600" b="0">
                <a:latin typeface="Arial"/>
              </a:rPr>
              <a:t>- Vector storage for knowledge-base retrieval</a:t>
            </a:r>
            <a:br/>
            <a:br/>
            <a:r>
              <a:rPr sz="1600" b="0">
                <a:latin typeface="Arial"/>
              </a:rPr>
              <a:t>LangChain and Hugging Face</a:t>
            </a:r>
            <a:br/>
            <a:r>
              <a:rPr sz="1600" b="0">
                <a:latin typeface="Arial"/>
              </a:rPr>
              <a:t>- Retrieval and embedding ecosystem</a:t>
            </a:r>
            <a:br/>
            <a:br/>
            <a:r>
              <a:rPr sz="1600" b="0">
                <a:latin typeface="Arial"/>
              </a:rPr>
              <a:t>PyPDF2 and python-docx</a:t>
            </a:r>
            <a:br/>
            <a:r>
              <a:rPr sz="1600" b="0">
                <a:latin typeface="Arial"/>
              </a:rPr>
              <a:t>- PDF and DOCX resume extraction</a:t>
            </a:r>
            <a:br/>
            <a:br/>
            <a:r>
              <a:rPr sz="1600" b="0">
                <a:latin typeface="Arial"/>
              </a:rPr>
              <a:t>SpeechRecognition</a:t>
            </a:r>
            <a:br/>
            <a:r>
              <a:rPr sz="1600" b="0">
                <a:latin typeface="Arial"/>
              </a:rPr>
              <a:t>- Voice answer transcription</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sz="1600" b="0">
                <a:latin typeface="Arial"/>
              </a:rPr>
              <a:t>Required Files Created for the Project</a:t>
            </a:r>
            <a:br/>
            <a:br/>
            <a:r>
              <a:rPr sz="1600" b="0">
                <a:latin typeface="Arial"/>
              </a:rPr>
              <a:t>app_ui.py - Streamlit application interface</a:t>
            </a:r>
            <a:br/>
            <a:r>
              <a:rPr sz="1600" b="0">
                <a:latin typeface="Arial"/>
              </a:rPr>
              <a:t>agent.py - IBM Granite generation, evaluation, and chat functions</a:t>
            </a:r>
            <a:br/>
            <a:r>
              <a:rPr sz="1600" b="0">
                <a:latin typeface="Arial"/>
              </a:rPr>
              <a:t>resume_parser.py - Resume extraction and profile analysis</a:t>
            </a:r>
            <a:br/>
            <a:r>
              <a:rPr sz="1600" b="0">
                <a:latin typeface="Arial"/>
              </a:rPr>
              <a:t>rag.py / rag_agent.py - Retrieval-Augmented Generation logic</a:t>
            </a:r>
            <a:br/>
            <a:r>
              <a:rPr sz="1600" b="0">
                <a:latin typeface="Arial"/>
              </a:rPr>
              <a:t>vector_store.py - Vector database operations</a:t>
            </a:r>
            <a:br/>
            <a:r>
              <a:rPr sz="1600" b="0">
                <a:latin typeface="Arial"/>
              </a:rPr>
              <a:t>history.py - Interview history persistence</a:t>
            </a:r>
            <a:br/>
            <a:r>
              <a:rPr sz="1600" b="0">
                <a:latin typeface="Arial"/>
              </a:rPr>
              <a:t>voice.py - Speech-to-text support</a:t>
            </a:r>
            <a:br/>
            <a:r>
              <a:rPr sz="1600" b="0">
                <a:latin typeface="Arial"/>
              </a:rPr>
              <a:t>knowledge_base/ - Interview preparation documents</a:t>
            </a:r>
            <a:br/>
            <a:r>
              <a:rPr sz="1600" b="0">
                <a:latin typeface="Arial"/>
              </a:rPr>
              <a:t>requirements.txt - Python dependencies</a:t>
            </a:r>
            <a:br/>
            <a:r>
              <a:rPr sz="1600" b="0">
                <a:latin typeface="Arial"/>
              </a:rPr>
              <a:t>README.md - Setup and usage instructions</a:t>
            </a:r>
            <a:br/>
            <a:r>
              <a:rPr sz="1600" b="0">
                <a:latin typeface="Arial"/>
              </a:rPr>
              <a:t>.env - Local credentials only; excluded from Git</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sz="1600" b="0">
                <a:latin typeface="Arial"/>
              </a:rPr>
              <a:t>Application Screens and User Flow</a:t>
            </a:r>
            <a:br/>
            <a:br/>
            <a:r>
              <a:rPr sz="1600" b="0">
                <a:latin typeface="Arial"/>
              </a:rPr>
              <a:t>1. Home: access the interview trainer modules</a:t>
            </a:r>
            <a:br/>
            <a:r>
              <a:rPr sz="1600" b="0">
                <a:latin typeface="Arial"/>
              </a:rPr>
              <a:t>2. Resume: upload a PDF or DOCX and review the extracted profile</a:t>
            </a:r>
            <a:br/>
            <a:r>
              <a:rPr sz="1600" b="0">
                <a:latin typeface="Arial"/>
              </a:rPr>
              <a:t>3. Chat Trainer: ask resume-aware preparation questions</a:t>
            </a:r>
            <a:br/>
            <a:r>
              <a:rPr sz="1600" b="0">
                <a:latin typeface="Arial"/>
              </a:rPr>
              <a:t>4. Mock Interview: choose role, difficulty, style, and question count</a:t>
            </a:r>
            <a:br/>
            <a:r>
              <a:rPr sz="1600" b="0">
                <a:latin typeface="Arial"/>
              </a:rPr>
              <a:t>5. Answer: respond using text or voice transcription</a:t>
            </a:r>
            <a:br/>
            <a:r>
              <a:rPr sz="1600" b="0">
                <a:latin typeface="Arial"/>
              </a:rPr>
              <a:t>6. Feedback: receive AI evaluation after each response</a:t>
            </a:r>
            <a:br/>
            <a:r>
              <a:rPr sz="1600" b="0">
                <a:latin typeface="Arial"/>
              </a:rPr>
              <a:t>7. History: save completed interview sessions for later review</a:t>
            </a:r>
            <a:br/>
            <a:br/>
            <a:r>
              <a:rPr sz="1600" b="0">
                <a:latin typeface="Arial"/>
              </a:rPr>
              <a:t>The interface is implemented in app_ui.py with Streamlit session state coordinating the active profile, questions, answers, and interview progress.</a:t>
            </a:r>
            <a:endParaRPr sz="2400" b="1">
              <a:sym typeface="Times New Roman"/>
            </a:endParaRPr>
          </a:p>
        </p:txBody>
      </p:sp>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280160"/>
            <a:ext cx="10698480" cy="5029200"/>
          </a:xfrm>
          <a:prstGeom prst="rect">
            <a:avLst/>
          </a:prstGeom>
          <a:noFill/>
        </p:spPr>
        <p:txBody>
          <a:bodyPr wrap="none">
            <a:spAutoFit/>
          </a:bodyPr>
          <a:lstStyle/>
          <a:p>
            <a:r>
              <a:rPr sz="1800" b="0">
                <a:latin typeface="Arial"/>
              </a:rPr>
              <a:t>Architecture Blueprint</a:t>
            </a:r>
            <a:br/>
            <a:br/>
            <a:r>
              <a:rPr sz="1800" b="0">
                <a:latin typeface="Arial"/>
              </a:rPr>
              <a:t>Candidate</a:t>
            </a:r>
            <a:br/>
            <a:r>
              <a:rPr sz="1800" b="0">
                <a:latin typeface="Arial"/>
              </a:rPr>
              <a:t>  |</a:t>
            </a:r>
            <a:br/>
            <a:r>
              <a:rPr sz="1800" b="0">
                <a:latin typeface="Arial"/>
              </a:rPr>
              <a:t>  v</a:t>
            </a:r>
            <a:br/>
            <a:r>
              <a:rPr sz="1800" b="0">
                <a:latin typeface="Arial"/>
              </a:rPr>
              <a:t>Streamlit UI (app_ui.py)</a:t>
            </a:r>
            <a:br/>
            <a:r>
              <a:rPr sz="1800" b="0">
                <a:latin typeface="Arial"/>
              </a:rPr>
              <a:t>  |</a:t>
            </a:r>
            <a:br/>
            <a:r>
              <a:rPr sz="1800" b="0">
                <a:latin typeface="Arial"/>
              </a:rPr>
              <a:t>  +--&gt; Resume Parser --&gt; Candidate Profile</a:t>
            </a:r>
            <a:br/>
            <a:r>
              <a:rPr sz="1800" b="0">
                <a:latin typeface="Arial"/>
              </a:rPr>
              <a:t>  |</a:t>
            </a:r>
            <a:br/>
            <a:r>
              <a:rPr sz="1800" b="0">
                <a:latin typeface="Arial"/>
              </a:rPr>
              <a:t>  +--&gt; Interview Agent --&gt; Granite Model</a:t>
            </a:r>
            <a:br/>
            <a:r>
              <a:rPr sz="1800" b="0">
                <a:latin typeface="Arial"/>
              </a:rPr>
              <a:t>  |                         ^</a:t>
            </a:r>
            <a:br/>
            <a:r>
              <a:rPr sz="1800" b="0">
                <a:latin typeface="Arial"/>
              </a:rPr>
              <a:t>  +--&gt; Answer Evaluator ---+</a:t>
            </a:r>
            <a:br/>
            <a:r>
              <a:rPr sz="1800" b="0">
                <a:latin typeface="Arial"/>
              </a:rPr>
              <a:t>  |</a:t>
            </a:r>
            <a:br/>
            <a:r>
              <a:rPr sz="1800" b="0">
                <a:latin typeface="Arial"/>
              </a:rPr>
              <a:t>  +--&gt; RAG Agent --&gt; ChromaDB Vector Store --&gt; Knowledge Base</a:t>
            </a:r>
            <a:br/>
            <a:r>
              <a:rPr sz="1800" b="0">
                <a:latin typeface="Arial"/>
              </a:rPr>
              <a:t>  |</a:t>
            </a:r>
            <a:br/>
            <a:r>
              <a:rPr sz="1800" b="0">
                <a:latin typeface="Arial"/>
              </a:rPr>
              <a:t>  +--&gt; Voice Module --&gt; Transcribed Answer</a:t>
            </a:r>
            <a:br/>
            <a:r>
              <a:rPr sz="1800" b="0">
                <a:latin typeface="Arial"/>
              </a:rPr>
              <a:t>  |</a:t>
            </a:r>
            <a:br/>
            <a:r>
              <a:rPr sz="1800" b="0">
                <a:latin typeface="Arial"/>
              </a:rPr>
              <a:t>  +--&gt; History Module --&gt; Local SQLite Database</a:t>
            </a:r>
            <a:br/>
            <a:br/>
            <a:r>
              <a:rPr sz="1800" b="0">
                <a:latin typeface="Arial"/>
              </a:rPr>
              <a:t>IBM watsonx.ai provides the hosted Granite model inference layer. The local modules manage parsing, retrieval, interaction, and persistence.</a:t>
            </a: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sz="1600" b="0">
                <a:latin typeface="Arial"/>
              </a:rPr>
              <a:t>Role of Agentic AI in the Solution</a:t>
            </a:r>
            <a:br/>
            <a:br/>
            <a:r>
              <a:rPr sz="1600" b="0">
                <a:latin typeface="Arial"/>
              </a:rPr>
              <a:t>Agentic AI enables the trainer to coordinate several focused capabilities instead of behaving like a single static question generator.</a:t>
            </a:r>
            <a:br/>
            <a:br/>
            <a:r>
              <a:rPr sz="1600" b="0">
                <a:latin typeface="Arial"/>
              </a:rPr>
              <a:t>- Resume agent: understands the candidate's background</a:t>
            </a:r>
            <a:br/>
            <a:r>
              <a:rPr sz="1600" b="0">
                <a:latin typeface="Arial"/>
              </a:rPr>
              <a:t>- Interview agent: creates the next relevant question</a:t>
            </a:r>
            <a:br/>
            <a:r>
              <a:rPr sz="1600" b="0">
                <a:latin typeface="Arial"/>
              </a:rPr>
              <a:t>- Retrieval agent: finds supporting interview knowledge</a:t>
            </a:r>
            <a:br/>
            <a:r>
              <a:rPr sz="1600" b="0">
                <a:latin typeface="Arial"/>
              </a:rPr>
              <a:t>- Evaluation agent: analyzes the submitted answer</a:t>
            </a:r>
            <a:br/>
            <a:r>
              <a:rPr sz="1600" b="0">
                <a:latin typeface="Arial"/>
              </a:rPr>
              <a:t>- Chat agent: responds to preparation requests</a:t>
            </a:r>
            <a:br/>
            <a:r>
              <a:rPr sz="1600" b="0">
                <a:latin typeface="Arial"/>
              </a:rPr>
              <a:t>- Voice capability: converts spoken answers into usable text</a:t>
            </a:r>
            <a:br/>
            <a:br/>
            <a:r>
              <a:rPr sz="1600" b="0">
                <a:latin typeface="Arial"/>
              </a:rPr>
              <a:t>Together, these components create a context-aware and goal-driven practice loop. The system adapts questions and feedback to the candidate profile, target role, selected difficulty, and current answer.</a:t>
            </a:r>
            <a:endParaRPr lang="en-US" sz="2400"/>
          </a:p>
        </p:txBody>
      </p:sp>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sz="1600" b="0">
                <a:latin typeface="Arial"/>
              </a:rPr>
              <a:t>Token Usage and Prompt Design</a:t>
            </a:r>
            <a:br/>
            <a:br/>
            <a:r>
              <a:rPr sz="1600" b="0">
                <a:latin typeface="Arial"/>
              </a:rPr>
              <a:t>Prompt inputs include:</a:t>
            </a:r>
            <a:br/>
            <a:r>
              <a:rPr sz="1600" b="0">
                <a:latin typeface="Arial"/>
              </a:rPr>
              <a:t>- Target role and interview difficulty</a:t>
            </a:r>
            <a:br/>
            <a:r>
              <a:rPr sz="1600" b="0">
                <a:latin typeface="Arial"/>
              </a:rPr>
              <a:t>- Candidate skills, projects, and resume text</a:t>
            </a:r>
            <a:br/>
            <a:r>
              <a:rPr sz="1600" b="0">
                <a:latin typeface="Arial"/>
              </a:rPr>
              <a:t>- Question type and answer style</a:t>
            </a:r>
            <a:br/>
            <a:r>
              <a:rPr sz="1600" b="0">
                <a:latin typeface="Arial"/>
              </a:rPr>
              <a:t>- Retrieved knowledge-base context</a:t>
            </a:r>
            <a:br/>
            <a:r>
              <a:rPr sz="1600" b="0">
                <a:latin typeface="Arial"/>
              </a:rPr>
              <a:t>- Candidate's submitted answer</a:t>
            </a:r>
            <a:br/>
            <a:br/>
            <a:r>
              <a:rPr sz="1600" b="0">
                <a:latin typeface="Arial"/>
              </a:rPr>
              <a:t>Output includes:</a:t>
            </a:r>
            <a:br/>
            <a:r>
              <a:rPr sz="1600" b="0">
                <a:latin typeface="Arial"/>
              </a:rPr>
              <a:t>- Structured interview questions</a:t>
            </a:r>
            <a:br/>
            <a:r>
              <a:rPr sz="1600" b="0">
                <a:latin typeface="Arial"/>
              </a:rPr>
              <a:t>- Evaluation feedback and improvement guidance</a:t>
            </a:r>
            <a:br/>
            <a:r>
              <a:rPr sz="1600" b="0">
                <a:latin typeface="Arial"/>
              </a:rPr>
              <a:t>- Resume-aware coaching responses</a:t>
            </a:r>
            <a:br/>
            <a:br/>
            <a:r>
              <a:rPr sz="1600" b="0">
                <a:latin typeface="Arial"/>
              </a:rPr>
              <a:t>Token usage depends on resume length, retrieved context, number of questions, and answer size. Keeping prompts focused and requesting structured JSON helps control cost and makes the Streamlit interface reliable.</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1600" b="0">
                <a:latin typeface="Arial"/>
              </a:rPr>
              <a:t>Project Output: Resume Intelligence</a:t>
            </a:r>
            <a:br/>
            <a:br/>
            <a:r>
              <a:rPr sz="1600" b="0">
                <a:latin typeface="Arial"/>
              </a:rPr>
              <a:t>Expected application output</a:t>
            </a:r>
            <a:br/>
            <a:br/>
            <a:r>
              <a:rPr sz="1600" b="0">
                <a:latin typeface="Arial"/>
              </a:rPr>
              <a:t>Resume upload</a:t>
            </a:r>
            <a:br/>
            <a:r>
              <a:rPr sz="1600" b="0">
                <a:latin typeface="Arial"/>
              </a:rPr>
              <a:t>  -&gt; PDF / DOCX text extraction</a:t>
            </a:r>
            <a:br/>
            <a:r>
              <a:rPr sz="1600" b="0">
                <a:latin typeface="Arial"/>
              </a:rPr>
              <a:t>  -&gt; Skills and projects identified</a:t>
            </a:r>
            <a:br/>
            <a:r>
              <a:rPr sz="1600" b="0">
                <a:latin typeface="Arial"/>
              </a:rPr>
              <a:t>  -&gt; Candidate profile displayed</a:t>
            </a:r>
            <a:br/>
            <a:r>
              <a:rPr sz="1600" b="0">
                <a:latin typeface="Arial"/>
              </a:rPr>
              <a:t>  -&gt; Profile can be edited and saved</a:t>
            </a:r>
            <a:br/>
            <a:br/>
            <a:r>
              <a:rPr sz="1600" b="0">
                <a:latin typeface="Arial"/>
              </a:rPr>
              <a:t>The Resume page gives the interview generator and chat trainer a consistent candidate context. This allows the system to ask questions about the candidate's actual projects instead of relying only on generic prompts.</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1600" b="0">
                <a:latin typeface="Arial"/>
              </a:rPr>
              <a:t>Project Output: Mock Interview Setup</a:t>
            </a:r>
            <a:br/>
            <a:br/>
            <a:r>
              <a:rPr sz="1600" b="0">
                <a:latin typeface="Arial"/>
              </a:rPr>
              <a:t>The Mock Interview page allows the candidate to configure:</a:t>
            </a:r>
            <a:br/>
            <a:br/>
            <a:r>
              <a:rPr sz="1600" b="0">
                <a:latin typeface="Arial"/>
              </a:rPr>
              <a:t>- Target role: AI Engineer, ML Engineer, Data Analyst, Software Developer, or Data Scientist</a:t>
            </a:r>
            <a:br/>
            <a:r>
              <a:rPr sz="1600" b="0">
                <a:latin typeface="Arial"/>
              </a:rPr>
              <a:t>- Question count: 1 to 10</a:t>
            </a:r>
            <a:br/>
            <a:r>
              <a:rPr sz="1600" b="0">
                <a:latin typeface="Arial"/>
              </a:rPr>
              <a:t>- Difficulty: Easy, Medium, or Hard</a:t>
            </a:r>
            <a:br/>
            <a:r>
              <a:rPr sz="1600" b="0">
                <a:latin typeface="Arial"/>
              </a:rPr>
              <a:t>- Answer style: Short, Medium, or Detailed</a:t>
            </a:r>
            <a:br/>
            <a:r>
              <a:rPr sz="1600" b="0">
                <a:latin typeface="Arial"/>
              </a:rPr>
              <a:t>- Answer method: Text or Voice</a:t>
            </a:r>
            <a:br/>
            <a:br/>
            <a:r>
              <a:rPr sz="1600" b="0">
                <a:latin typeface="Arial"/>
              </a:rPr>
              <a:t>After starting, the interface displays one question at a time with progress tracking and Submit / Skip controls.</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p:txBody>
      </p:sp>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1600" b="0">
                <a:latin typeface="Arial"/>
              </a:rPr>
              <a:t>Project Output: Answer Evaluation</a:t>
            </a:r>
            <a:br/>
            <a:br/>
            <a:r>
              <a:rPr sz="1600" b="0">
                <a:latin typeface="Arial"/>
              </a:rPr>
              <a:t>For each submitted answer, the system sends the question and answer to the IBM Granite evaluator.</a:t>
            </a:r>
            <a:br/>
            <a:br/>
            <a:r>
              <a:rPr sz="1600" b="0">
                <a:latin typeface="Arial"/>
              </a:rPr>
              <a:t>Feedback can identify:</a:t>
            </a:r>
            <a:br/>
            <a:r>
              <a:rPr sz="1600" b="0">
                <a:latin typeface="Arial"/>
              </a:rPr>
              <a:t>- What the candidate explained well</a:t>
            </a:r>
            <a:br/>
            <a:r>
              <a:rPr sz="1600" b="0">
                <a:latin typeface="Arial"/>
              </a:rPr>
              <a:t>- Missing technical concepts</a:t>
            </a:r>
            <a:br/>
            <a:r>
              <a:rPr sz="1600" b="0">
                <a:latin typeface="Arial"/>
              </a:rPr>
              <a:t>- Clarity and relevance issues</a:t>
            </a:r>
            <a:br/>
            <a:r>
              <a:rPr sz="1600" b="0">
                <a:latin typeface="Arial"/>
              </a:rPr>
              <a:t>- Specific ways to improve the response</a:t>
            </a:r>
            <a:br/>
            <a:br/>
            <a:r>
              <a:rPr sz="1600" b="0">
                <a:latin typeface="Arial"/>
              </a:rPr>
              <a:t>The result is stored with the question and answer so the candidate can review the full interview summary after completion.</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p:txBody>
      </p:sp>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1600" b="0">
                <a:latin typeface="Arial"/>
              </a:rPr>
              <a:t>Project Output: Chat Trainer</a:t>
            </a:r>
            <a:br/>
            <a:br/>
            <a:r>
              <a:rPr sz="1600" b="0">
                <a:latin typeface="Arial"/>
              </a:rPr>
              <a:t>The Chat Trainer provides resume-aware preparation through natural-language prompts.</a:t>
            </a:r>
            <a:br/>
            <a:br/>
            <a:r>
              <a:rPr sz="1600" b="0">
                <a:latin typeface="Arial"/>
              </a:rPr>
              <a:t>Example prompts:</a:t>
            </a:r>
            <a:br/>
            <a:r>
              <a:rPr sz="1600" b="0">
                <a:latin typeface="Arial"/>
              </a:rPr>
              <a:t>- Generate interview questions from my projects</a:t>
            </a:r>
            <a:br/>
            <a:r>
              <a:rPr sz="1600" b="0">
                <a:latin typeface="Arial"/>
              </a:rPr>
              <a:t>- Review my resume for an AI Engineer role</a:t>
            </a:r>
            <a:br/>
            <a:r>
              <a:rPr sz="1600" b="0">
                <a:latin typeface="Arial"/>
              </a:rPr>
              <a:t>- Ask difficult ML interview questions</a:t>
            </a:r>
            <a:br/>
            <a:r>
              <a:rPr sz="1600" b="0">
                <a:latin typeface="Arial"/>
              </a:rPr>
              <a:t>- Improve my interview answers</a:t>
            </a:r>
            <a:br/>
            <a:r>
              <a:rPr sz="1600" b="0">
                <a:latin typeface="Arial"/>
              </a:rPr>
              <a:t>- Prepare HR questions</a:t>
            </a:r>
            <a:br/>
            <a:br/>
            <a:r>
              <a:rPr sz="1600" b="0">
                <a:latin typeface="Arial"/>
              </a:rPr>
              <a:t>Chat history remains available during the session, and the candidate can clear it when starting a new practice topic.</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p:txBody>
      </p:sp>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sz="1600" b="0">
                <a:latin typeface="Arial"/>
              </a:rPr>
              <a:t>Novelty and Uniqueness</a:t>
            </a:r>
            <a:br/>
            <a:br/>
            <a:r>
              <a:rPr sz="1600" b="0">
                <a:latin typeface="Arial"/>
              </a:rPr>
              <a:t>The project combines personalized resume intelligence, RAG, interactive practice, voice input, and answer evaluation in one workflow.</a:t>
            </a:r>
            <a:br/>
            <a:br/>
            <a:r>
              <a:rPr sz="1600" b="0">
                <a:latin typeface="Arial"/>
              </a:rPr>
              <a:t>Resume-grounded personalization - questions are connected to the candidate's skills and projects.</a:t>
            </a:r>
            <a:br/>
            <a:br/>
            <a:r>
              <a:rPr sz="1600" b="0">
                <a:latin typeface="Arial"/>
              </a:rPr>
              <a:t>Multi-modal practice - candidates can type or speak their answers.</a:t>
            </a:r>
            <a:br/>
            <a:br/>
            <a:r>
              <a:rPr sz="1600" b="0">
                <a:latin typeface="Arial"/>
              </a:rPr>
              <a:t>Continuous feedback loop - every response produces guidance for improvement.</a:t>
            </a:r>
            <a:br/>
            <a:br/>
            <a:r>
              <a:rPr sz="1600" b="0">
                <a:latin typeface="Arial"/>
              </a:rPr>
              <a:t>Retrieval-supported generation - the knowledge base supplies relevant interview concepts.</a:t>
            </a:r>
            <a:br/>
            <a:br/>
            <a:r>
              <a:rPr sz="1600" b="0">
                <a:latin typeface="Arial"/>
              </a:rPr>
              <a:t>Session continuity - completed interviews can be saved and reviewed.</a:t>
            </a:r>
            <a:br/>
            <a:br/>
            <a:r>
              <a:rPr sz="1600" b="0">
                <a:latin typeface="Arial"/>
              </a:rPr>
              <a:t>The result is a practical interview companion rather than a static collection of questions.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sz="1600" b="0">
                <a:latin typeface="Arial"/>
              </a:rPr>
              <a:t>GitHub Repository</a:t>
            </a:r>
            <a:br/>
            <a:br/>
            <a:r>
              <a:rPr sz="1600" b="0">
                <a:latin typeface="Arial"/>
              </a:rPr>
              <a:t>Public repository:</a:t>
            </a:r>
            <a:br/>
            <a:r>
              <a:rPr sz="1600" b="0">
                <a:latin typeface="Arial"/>
              </a:rPr>
              <a:t>https://github.com/30nikamvaishnavi/AI-Mock-Interview-Trainer-Agent</a:t>
            </a:r>
            <a:br/>
            <a:br/>
            <a:r>
              <a:rPr sz="1600" b="0">
                <a:latin typeface="Arial"/>
              </a:rPr>
              <a:t>The repository contains:</a:t>
            </a:r>
            <a:br/>
            <a:r>
              <a:rPr sz="1600" b="0">
                <a:latin typeface="Arial"/>
              </a:rPr>
              <a:t>- Application source files</a:t>
            </a:r>
            <a:br/>
            <a:r>
              <a:rPr sz="1600" b="0">
                <a:latin typeface="Arial"/>
              </a:rPr>
              <a:t>- Knowledge-base documents</a:t>
            </a:r>
            <a:br/>
            <a:r>
              <a:rPr sz="1600" b="0">
                <a:latin typeface="Arial"/>
              </a:rPr>
              <a:t>- requirements.txt</a:t>
            </a:r>
            <a:br/>
            <a:r>
              <a:rPr sz="1600" b="0">
                <a:latin typeface="Arial"/>
              </a:rPr>
              <a:t>- README.md with setup instructions</a:t>
            </a:r>
            <a:br/>
            <a:r>
              <a:rPr sz="1600" b="0">
                <a:latin typeface="Arial"/>
              </a:rPr>
              <a:t>- Test files</a:t>
            </a:r>
            <a:br/>
            <a:br/>
            <a:r>
              <a:rPr sz="1600" b="0">
                <a:latin typeface="Arial"/>
              </a:rPr>
              <a:t>Sensitive credentials in .env, local virtual environments, generated databases, uploaded resumes, audio files, and reports are excluded from the repository.</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sz="1600" b="0">
                <a:latin typeface="Arial"/>
              </a:rPr>
              <a:t>Future Scope</a:t>
            </a:r>
            <a:br/>
            <a:br/>
            <a:r>
              <a:rPr sz="1600" b="0">
                <a:latin typeface="Arial"/>
              </a:rPr>
              <a:t>1. Cloud deployment</a:t>
            </a:r>
            <a:br/>
            <a:r>
              <a:rPr sz="1600" b="0">
                <a:latin typeface="Arial"/>
              </a:rPr>
              <a:t>Deploy the Streamlit application with managed secrets and a hosted vector database.</a:t>
            </a:r>
            <a:br/>
            <a:br/>
            <a:r>
              <a:rPr sz="1600" b="0">
                <a:latin typeface="Arial"/>
              </a:rPr>
              <a:t>2. Analytics dashboard</a:t>
            </a:r>
            <a:br/>
            <a:r>
              <a:rPr sz="1600" b="0">
                <a:latin typeface="Arial"/>
              </a:rPr>
              <a:t>Track scores, topic-level weaknesses, progress over time, and repeated-question performance.</a:t>
            </a:r>
            <a:br/>
            <a:br/>
            <a:r>
              <a:rPr sz="1600" b="0">
                <a:latin typeface="Arial"/>
              </a:rPr>
              <a:t>3. Better voice experience</a:t>
            </a:r>
            <a:br/>
            <a:r>
              <a:rPr sz="1600" b="0">
                <a:latin typeface="Arial"/>
              </a:rPr>
              <a:t>Add browser-native recording, confidence signals, pronunciation analysis, and multilingual support.</a:t>
            </a:r>
            <a:br/>
            <a:br/>
            <a:r>
              <a:rPr sz="1600" b="0">
                <a:latin typeface="Arial"/>
              </a:rPr>
              <a:t>4. More input formats</a:t>
            </a:r>
            <a:br/>
            <a:r>
              <a:rPr sz="1600" b="0">
                <a:latin typeface="Arial"/>
              </a:rPr>
              <a:t>Support webcam interview practice, coding editor input, and richer resume formats.</a:t>
            </a:r>
            <a:br/>
            <a:br/>
            <a:r>
              <a:rPr sz="1600" b="0">
                <a:latin typeface="Arial"/>
              </a:rPr>
              <a:t>5. Adaptive interviews</a:t>
            </a:r>
            <a:br/>
            <a:r>
              <a:rPr sz="1600" b="0">
                <a:latin typeface="Arial"/>
              </a:rPr>
              <a:t>Use previous feedback to change the next question difficulty and focus areas automatically.</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1600" b="0">
                <a:latin typeface="Arial"/>
              </a:rPr>
              <a:t>Certificates and Learning</a:t>
            </a:r>
            <a:br/>
            <a:br/>
            <a:r>
              <a:rPr sz="1600" b="0">
                <a:latin typeface="Arial"/>
              </a:rPr>
              <a:t>Relevant learning areas demonstrated by the project:</a:t>
            </a:r>
            <a:br/>
            <a:br/>
            <a:r>
              <a:rPr sz="1600" b="0">
                <a:latin typeface="Arial"/>
              </a:rPr>
              <a:t>- IBM watsonx.ai and Granite model integration</a:t>
            </a:r>
            <a:br/>
            <a:r>
              <a:rPr sz="1600" b="0">
                <a:latin typeface="Arial"/>
              </a:rPr>
              <a:t>- Retrieval-Augmented Generation</a:t>
            </a:r>
            <a:br/>
            <a:r>
              <a:rPr sz="1600" b="0">
                <a:latin typeface="Arial"/>
              </a:rPr>
              <a:t>- LangChain and vector databases</a:t>
            </a:r>
            <a:br/>
            <a:r>
              <a:rPr sz="1600" b="0">
                <a:latin typeface="Arial"/>
              </a:rPr>
              <a:t>- Streamlit application development</a:t>
            </a:r>
            <a:br/>
            <a:r>
              <a:rPr sz="1600" b="0">
                <a:latin typeface="Arial"/>
              </a:rPr>
              <a:t>- Resume parsing and document processing</a:t>
            </a:r>
            <a:br/>
            <a:r>
              <a:rPr sz="1600" b="0">
                <a:latin typeface="Arial"/>
              </a:rPr>
              <a:t>- Speech-to-text interaction</a:t>
            </a:r>
            <a:br/>
            <a:br/>
            <a:r>
              <a:rPr sz="1600" b="0">
                <a:latin typeface="Arial"/>
              </a:rPr>
              <a:t>Add verified Credly, IBM, or program certificates here before final submission.</a:t>
            </a:r>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p:txBody>
      </p:sp>
      <p:grpSp>
        <p:nvGrpSpPr>
          <p:cNvPr id="8" name="Group 7">
            <a:extLst>
              <a:ext uri="{FF2B5EF4-FFF2-40B4-BE49-F238E27FC236}">
                <a16:creationId xmlns:a16="http://schemas.microsoft.com/office/drawing/2014/main" id="{F8E1A664-937F-0995-A503-E9C101158D8C}"/>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1600" b="0">
                <a:latin typeface="Arial"/>
              </a:rPr>
              <a:t>Project Demonstration</a:t>
            </a:r>
            <a:br/>
            <a:br/>
            <a:r>
              <a:rPr sz="1600" b="0">
                <a:latin typeface="Arial"/>
              </a:rPr>
              <a:t>The completed project can be demonstrated through the following workflow:</a:t>
            </a:r>
            <a:br/>
            <a:br/>
            <a:r>
              <a:rPr sz="1600" b="0">
                <a:latin typeface="Arial"/>
              </a:rPr>
              <a:t>1. Launch the Streamlit app</a:t>
            </a:r>
            <a:br/>
            <a:r>
              <a:rPr sz="1600" b="0">
                <a:latin typeface="Arial"/>
              </a:rPr>
              <a:t>2. Upload and analyze a resume</a:t>
            </a:r>
            <a:br/>
            <a:r>
              <a:rPr sz="1600" b="0">
                <a:latin typeface="Arial"/>
              </a:rPr>
              <a:t>3. Open Chat Trainer and ask a preparation question</a:t>
            </a:r>
            <a:br/>
            <a:r>
              <a:rPr sz="1600" b="0">
                <a:latin typeface="Arial"/>
              </a:rPr>
              <a:t>4. Start a mock interview</a:t>
            </a:r>
            <a:br/>
            <a:r>
              <a:rPr sz="1600" b="0">
                <a:latin typeface="Arial"/>
              </a:rPr>
              <a:t>5. Submit a text or voice answer</a:t>
            </a:r>
            <a:br/>
            <a:r>
              <a:rPr sz="1600" b="0">
                <a:latin typeface="Arial"/>
              </a:rPr>
              <a:t>6. Review AI feedback</a:t>
            </a:r>
            <a:br/>
            <a:r>
              <a:rPr sz="1600" b="0">
                <a:latin typeface="Arial"/>
              </a:rPr>
              <a:t>7. Save the completed interview</a:t>
            </a:r>
            <a:br/>
            <a:br/>
            <a:r>
              <a:rPr sz="1600" b="0">
                <a:latin typeface="Arial"/>
              </a:rPr>
              <a:t>Add screenshots from the running application here for the final submission version.</a:t>
            </a: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Box 1"/>
          <p:cNvSpPr txBox="1"/>
          <p:nvPr/>
        </p:nvSpPr>
        <p:spPr>
          <a:xfrm>
            <a:off x="1828800" y="2194560"/>
            <a:ext cx="8686800" cy="1828800"/>
          </a:xfrm>
          <a:prstGeom prst="rect">
            <a:avLst/>
          </a:prstGeom>
          <a:noFill/>
        </p:spPr>
        <p:txBody>
          <a:bodyPr wrap="none">
            <a:spAutoFit/>
          </a:bodyPr>
          <a:lstStyle/>
          <a:p>
            <a:r>
              <a:rPr sz="2800" b="0">
                <a:latin typeface="Arial"/>
              </a:rPr>
              <a:t>Thank You</a:t>
            </a:r>
            <a:br/>
            <a:br/>
            <a:r>
              <a:rPr sz="2800" b="0">
                <a:latin typeface="Arial"/>
              </a:rPr>
              <a:t>AI Mock Interview Trainer Agent</a:t>
            </a:r>
          </a:p>
        </p:txBody>
      </p:sp>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1428</Words>
  <Application>Microsoft Office PowerPoint</Application>
  <PresentationFormat>Widescreen</PresentationFormat>
  <Paragraphs>142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Aswini Kumar Motapothula</cp:lastModifiedBy>
  <cp:revision>2</cp:revision>
  <dcterms:created xsi:type="dcterms:W3CDTF">2025-07-08T05:06:56Z</dcterms:created>
  <dcterms:modified xsi:type="dcterms:W3CDTF">2026-09-03T06:31:25Z</dcterms:modified>
</cp:coreProperties>
</file>